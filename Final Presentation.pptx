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90" r:id="rId4"/>
    <p:sldId id="291" r:id="rId5"/>
    <p:sldId id="292" r:id="rId6"/>
    <p:sldId id="258" r:id="rId7"/>
    <p:sldId id="259" r:id="rId8"/>
    <p:sldId id="260" r:id="rId9"/>
    <p:sldId id="262" r:id="rId10"/>
    <p:sldId id="261" r:id="rId11"/>
    <p:sldId id="263" r:id="rId12"/>
    <p:sldId id="270" r:id="rId13"/>
    <p:sldId id="271" r:id="rId14"/>
    <p:sldId id="277" r:id="rId15"/>
    <p:sldId id="272" r:id="rId16"/>
    <p:sldId id="274" r:id="rId17"/>
    <p:sldId id="279" r:id="rId18"/>
    <p:sldId id="280" r:id="rId19"/>
    <p:sldId id="282" r:id="rId20"/>
    <p:sldId id="284" r:id="rId21"/>
    <p:sldId id="285" r:id="rId22"/>
    <p:sldId id="286" r:id="rId23"/>
    <p:sldId id="287" r:id="rId24"/>
    <p:sldId id="288" r:id="rId25"/>
    <p:sldId id="293" r:id="rId26"/>
    <p:sldId id="294" r:id="rId27"/>
    <p:sldId id="296" r:id="rId28"/>
    <p:sldId id="297" r:id="rId29"/>
    <p:sldId id="298" r:id="rId30"/>
    <p:sldId id="299" r:id="rId31"/>
    <p:sldId id="300" r:id="rId32"/>
    <p:sldId id="28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2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DC66-1060-1AD3-4081-7FE0FF4D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E9D07-C36B-2FD5-0EB4-652602DDA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49FE0-6833-A86F-6127-8D7D342EB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3C78-91B7-4BDF-B890-2611CF52D04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B1D9E-540A-A654-9F67-1C4B6BC1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37713-4AD9-779E-02EE-25401757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F04B-753F-48CC-B3E7-1D50B343B7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877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723D7-3E0A-B033-D5F9-D049130F2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06357-EB2C-6590-FF0C-D83DC1D97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044C9-C41E-3E33-1F39-2F2BC454D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3C78-91B7-4BDF-B890-2611CF52D04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6C868-A12D-F72E-D141-402B50AD8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AA8BB-D1E8-9D50-CA8E-477027C2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F04B-753F-48CC-B3E7-1D50B343B7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19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ED5B8-0758-F7C5-95D4-E01D250EA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B8045-2C88-D39B-2D6E-9A4AA0321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4C774-F489-C354-BF93-55EB815E6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3C78-91B7-4BDF-B890-2611CF52D04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A6BC4-050C-745E-4AD2-1988D8FE9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7D4F0-0D60-9DD9-0560-F413D6B1E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F04B-753F-48CC-B3E7-1D50B343B7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518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3B7A0-0EE7-D8DD-4B0A-0534EFE65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A1015-649E-6F0D-B7ED-6F0AE5E9A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DED90-DAFC-2EA8-ECA5-5C6D98DD5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D0C7B-2563-1A4E-7ADD-AB9DED4D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3C78-91B7-4BDF-B890-2611CF52D04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D76EF-AA62-00F0-23FF-8BFC81F3A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E81DE-4367-3B7E-9C14-05202BB08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F04B-753F-48CC-B3E7-1D50B343B7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39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8C642-5539-7DF8-E9A9-71547805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868C1-B09D-6889-E8F9-CDD728595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B509A-A613-42BC-0605-342A12E81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1A2C12-2FDE-14D7-228F-F9DCFE6F0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75DC2-761F-98ED-0ED0-F4C41687D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4FB4C8-A5FF-9478-EF64-955FA268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3C78-91B7-4BDF-B890-2611CF52D04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949C02-0281-91D7-6E8D-9329BA42D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FA0E0-6FB3-17F0-88A5-5C13350B2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F04B-753F-48CC-B3E7-1D50B343B7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40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D4A8-EE31-6D33-2092-AEA42303C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9FF4F-8B37-3A14-B287-65989AED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3C78-91B7-4BDF-B890-2611CF52D04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03E45-8A1A-A71F-3D6D-2B30142FB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AEE1B-E1C0-4B74-025E-54C72FA4D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F04B-753F-48CC-B3E7-1D50B343B7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48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A35715-E397-4328-3917-2A86244F0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3C78-91B7-4BDF-B890-2611CF52D04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5A1A3E-E700-C9C9-0011-19AC05E2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3AC2B-B01A-021B-9C8E-53D23BA2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F04B-753F-48CC-B3E7-1D50B343B7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079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CC1A3-434D-334E-0ACF-841780B9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77614-79C2-E792-535F-DA9F70099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D01ABB-3777-F33D-9299-A9EB4DBAC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A3AF2-680D-E2C8-5B78-23CB4A264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3C78-91B7-4BDF-B890-2611CF52D04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2BBB3-C4A5-53CD-71D3-2F524AC70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7D988-E80A-6773-6DA1-1628525E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F04B-753F-48CC-B3E7-1D50B343B7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23249-2906-075F-5419-9B5507214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6A925-6C8E-FA3D-86C4-E7E4B7C50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99E37-590E-15B8-19D9-D91F35BEC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D74259-2E29-BB5E-8FC9-E3A9E34E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3C78-91B7-4BDF-B890-2611CF52D04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A3B9A-D712-8417-C81C-237CC5CB2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A8010-453A-531E-452B-75CFD43F8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F04B-753F-48CC-B3E7-1D50B343B7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90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711D9-C24B-1141-3412-7D50A5FEC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23F0A-E1B1-3473-454F-1269FFE2F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63D20-1984-C1E7-8FF0-7486CAF0A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3C78-91B7-4BDF-B890-2611CF52D04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32B91-D1D3-3A09-ECE3-BA1916AD9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880BB-8929-F93E-3D80-974A62086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F04B-753F-48CC-B3E7-1D50B343B7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779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47461A-FECA-47DE-8CAA-8D7AFAD9C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0288B9-88CF-03E4-B44E-56C41210A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E446B-044E-C7F1-EE18-C34BF5684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3C78-91B7-4BDF-B890-2611CF52D04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2C45F-3CF9-B89F-4416-F4B64329C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29A77-01CE-12F1-DBF9-0FE5A385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F04B-753F-48CC-B3E7-1D50B343B7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18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7ACDAE-E8A6-9747-6344-19C71F7AC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5705B-5455-7DF0-2D42-BFAF399AD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01294-2BC8-AA42-D115-B66F8BA718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63C78-91B7-4BDF-B890-2611CF52D04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D525E-BC4B-F6C5-7560-C43521532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607A0-C935-CAF7-AD1E-7A9B654FC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3F04B-753F-48CC-B3E7-1D50B343B7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074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7000">
              <a:schemeClr val="tx1">
                <a:lumMod val="75000"/>
                <a:lumOff val="25000"/>
              </a:schemeClr>
            </a:gs>
            <a:gs pos="54000">
              <a:schemeClr val="tx1">
                <a:lumMod val="85000"/>
                <a:lumOff val="15000"/>
              </a:schemeClr>
            </a:gs>
            <a:gs pos="3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2294FB-AC3D-CCBA-2965-C53DC77EB439}"/>
              </a:ext>
            </a:extLst>
          </p:cNvPr>
          <p:cNvSpPr txBox="1"/>
          <p:nvPr/>
        </p:nvSpPr>
        <p:spPr>
          <a:xfrm>
            <a:off x="1288025" y="766916"/>
            <a:ext cx="38444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Shield Insurance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D55CC0-D587-7D52-C528-1D01420CC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8780207" y="328650"/>
            <a:ext cx="2123768" cy="21999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60F91C-CA9D-7223-12DD-9402F4D32461}"/>
              </a:ext>
            </a:extLst>
          </p:cNvPr>
          <p:cNvSpPr txBox="1"/>
          <p:nvPr/>
        </p:nvSpPr>
        <p:spPr>
          <a:xfrm>
            <a:off x="1671485" y="4329382"/>
            <a:ext cx="92324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0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Pilot Project Analysis </a:t>
            </a:r>
          </a:p>
          <a:p>
            <a:pPr algn="r"/>
            <a:r>
              <a:rPr lang="en-IN" sz="20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By</a:t>
            </a:r>
          </a:p>
          <a:p>
            <a:pPr algn="r"/>
            <a:r>
              <a:rPr lang="en-IN" sz="20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Md Shafi Alam (</a:t>
            </a:r>
            <a:r>
              <a:rPr lang="en-IN" sz="2000" b="1" dirty="0" err="1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AtliQ</a:t>
            </a:r>
            <a:r>
              <a:rPr lang="en-IN" sz="20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 Technologies)</a:t>
            </a:r>
          </a:p>
        </p:txBody>
      </p:sp>
      <p:pic>
        <p:nvPicPr>
          <p:cNvPr id="1026" name="Picture 2" descr="Insurance Producer | What Is It and What Do They Do? | Kaplan">
            <a:extLst>
              <a:ext uri="{FF2B5EF4-FFF2-40B4-BE49-F238E27FC236}">
                <a16:creationId xmlns:a16="http://schemas.microsoft.com/office/drawing/2014/main" id="{A576853C-594E-E49C-8920-9F2AF88685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88"/>
          <a:stretch>
            <a:fillRect/>
          </a:stretch>
        </p:blipFill>
        <p:spPr bwMode="auto">
          <a:xfrm>
            <a:off x="0" y="2798863"/>
            <a:ext cx="121920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977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FFEDD-B139-0C26-84D5-288787447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8A9448-926D-2A9D-CB85-53373035D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60F55B-5DF8-87F6-1FC6-FEA6C8A2E8C2}"/>
              </a:ext>
            </a:extLst>
          </p:cNvPr>
          <p:cNvSpPr txBox="1"/>
          <p:nvPr/>
        </p:nvSpPr>
        <p:spPr>
          <a:xfrm>
            <a:off x="226142" y="161501"/>
            <a:ext cx="309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537629-72CC-8316-E758-88F2A323123D}"/>
              </a:ext>
            </a:extLst>
          </p:cNvPr>
          <p:cNvSpPr txBox="1"/>
          <p:nvPr/>
        </p:nvSpPr>
        <p:spPr>
          <a:xfrm>
            <a:off x="523994" y="1496405"/>
            <a:ext cx="10989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Enhance decision making with actionable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89396C-2DC5-4030-EDC3-18CC507E786C}"/>
              </a:ext>
            </a:extLst>
          </p:cNvPr>
          <p:cNvSpPr txBox="1"/>
          <p:nvPr/>
        </p:nvSpPr>
        <p:spPr>
          <a:xfrm>
            <a:off x="-9834" y="25634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Visibility in revenue and customer growth across sales mode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D41E03-6428-E44D-B66F-C33A65F02179}"/>
              </a:ext>
            </a:extLst>
          </p:cNvPr>
          <p:cNvSpPr txBox="1"/>
          <p:nvPr/>
        </p:nvSpPr>
        <p:spPr>
          <a:xfrm>
            <a:off x="518356" y="3630397"/>
            <a:ext cx="11000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Insights on policy preferences in different age groups</a:t>
            </a:r>
          </a:p>
        </p:txBody>
      </p:sp>
    </p:spTree>
    <p:extLst>
      <p:ext uri="{BB962C8B-B14F-4D97-AF65-F5344CB8AC3E}">
        <p14:creationId xmlns:p14="http://schemas.microsoft.com/office/powerpoint/2010/main" val="2178243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92E49-B57D-7E3B-D3AD-195A7966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DD2869-74A4-3CBF-4E1C-3E77FE428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A3426E-B864-A923-76C1-F86EF3591D42}"/>
              </a:ext>
            </a:extLst>
          </p:cNvPr>
          <p:cNvSpPr txBox="1"/>
          <p:nvPr/>
        </p:nvSpPr>
        <p:spPr>
          <a:xfrm>
            <a:off x="226142" y="161501"/>
            <a:ext cx="309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C6E73C-847D-6526-C440-273198E9FDB6}"/>
              </a:ext>
            </a:extLst>
          </p:cNvPr>
          <p:cNvSpPr txBox="1"/>
          <p:nvPr/>
        </p:nvSpPr>
        <p:spPr>
          <a:xfrm>
            <a:off x="523994" y="1496405"/>
            <a:ext cx="10989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Enhance decision making with actionable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E03A28-2AEF-D226-6B7B-E4CCCA8401E7}"/>
              </a:ext>
            </a:extLst>
          </p:cNvPr>
          <p:cNvSpPr txBox="1"/>
          <p:nvPr/>
        </p:nvSpPr>
        <p:spPr>
          <a:xfrm>
            <a:off x="-9834" y="25634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Visibility in revenue and customer growth across sales mode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386B7C-BE75-94CC-F830-A26D915AF5B6}"/>
              </a:ext>
            </a:extLst>
          </p:cNvPr>
          <p:cNvSpPr txBox="1"/>
          <p:nvPr/>
        </p:nvSpPr>
        <p:spPr>
          <a:xfrm>
            <a:off x="518356" y="3630397"/>
            <a:ext cx="11000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Insights on policy preferences in different age groups</a:t>
            </a:r>
          </a:p>
        </p:txBody>
      </p:sp>
    </p:spTree>
    <p:extLst>
      <p:ext uri="{BB962C8B-B14F-4D97-AF65-F5344CB8AC3E}">
        <p14:creationId xmlns:p14="http://schemas.microsoft.com/office/powerpoint/2010/main" val="661520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5FC00-3054-E7C8-7A87-4CE6A0D98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2BB6E7-54F4-37B4-9D5F-DF7165A77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85A39D-614F-AC72-23E5-7FA15B421176}"/>
              </a:ext>
            </a:extLst>
          </p:cNvPr>
          <p:cNvSpPr txBox="1"/>
          <p:nvPr/>
        </p:nvSpPr>
        <p:spPr>
          <a:xfrm>
            <a:off x="226142" y="161501"/>
            <a:ext cx="309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7A3A61-DDE6-F743-1ECC-28F437D8A600}"/>
              </a:ext>
            </a:extLst>
          </p:cNvPr>
          <p:cNvSpPr txBox="1"/>
          <p:nvPr/>
        </p:nvSpPr>
        <p:spPr>
          <a:xfrm>
            <a:off x="523994" y="1496405"/>
            <a:ext cx="10989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Enhance decision making with actionable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D286EF-5C7C-96AC-A504-DF657BE8271D}"/>
              </a:ext>
            </a:extLst>
          </p:cNvPr>
          <p:cNvSpPr txBox="1"/>
          <p:nvPr/>
        </p:nvSpPr>
        <p:spPr>
          <a:xfrm>
            <a:off x="-9834" y="25634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Visibility in revenue and customer growth across sales mode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0A2C7E-AC8E-540D-D107-0BC86BEC1115}"/>
              </a:ext>
            </a:extLst>
          </p:cNvPr>
          <p:cNvSpPr txBox="1"/>
          <p:nvPr/>
        </p:nvSpPr>
        <p:spPr>
          <a:xfrm>
            <a:off x="518356" y="3630397"/>
            <a:ext cx="11000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Insights on policy preferences in different age groups</a:t>
            </a:r>
          </a:p>
        </p:txBody>
      </p:sp>
    </p:spTree>
    <p:extLst>
      <p:ext uri="{BB962C8B-B14F-4D97-AF65-F5344CB8AC3E}">
        <p14:creationId xmlns:p14="http://schemas.microsoft.com/office/powerpoint/2010/main" val="2351639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AC55C-A3F7-5E15-7602-1BD8D9C68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41CAE2-7824-B7A1-E230-18523E0A4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A0DC73-53A8-2D90-3D99-AACD58224FCB}"/>
              </a:ext>
            </a:extLst>
          </p:cNvPr>
          <p:cNvSpPr txBox="1"/>
          <p:nvPr/>
        </p:nvSpPr>
        <p:spPr>
          <a:xfrm>
            <a:off x="226142" y="161501"/>
            <a:ext cx="309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7640E1-F843-0FE7-43F4-45D305468465}"/>
              </a:ext>
            </a:extLst>
          </p:cNvPr>
          <p:cNvSpPr txBox="1"/>
          <p:nvPr/>
        </p:nvSpPr>
        <p:spPr>
          <a:xfrm>
            <a:off x="523994" y="1496405"/>
            <a:ext cx="10989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Enhance decision making with actionable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418AE3-3F87-260B-706C-C5D99BCDD339}"/>
              </a:ext>
            </a:extLst>
          </p:cNvPr>
          <p:cNvSpPr txBox="1"/>
          <p:nvPr/>
        </p:nvSpPr>
        <p:spPr>
          <a:xfrm>
            <a:off x="-9834" y="25634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Visibility in revenue and customer growth across sales mode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3835ED-C323-24B4-B32B-98541C6AC8F6}"/>
              </a:ext>
            </a:extLst>
          </p:cNvPr>
          <p:cNvSpPr txBox="1"/>
          <p:nvPr/>
        </p:nvSpPr>
        <p:spPr>
          <a:xfrm>
            <a:off x="518356" y="3630397"/>
            <a:ext cx="11000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Insights on policy preferences in different age groups</a:t>
            </a:r>
          </a:p>
        </p:txBody>
      </p:sp>
    </p:spTree>
    <p:extLst>
      <p:ext uri="{BB962C8B-B14F-4D97-AF65-F5344CB8AC3E}">
        <p14:creationId xmlns:p14="http://schemas.microsoft.com/office/powerpoint/2010/main" val="963803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7E9F7-7B6F-A949-7E6D-58F2A8B4C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2458A9-D93F-CB74-00D7-F0A098816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CE643F-D97F-3DD8-0B34-2214AA54EDD8}"/>
              </a:ext>
            </a:extLst>
          </p:cNvPr>
          <p:cNvSpPr txBox="1"/>
          <p:nvPr/>
        </p:nvSpPr>
        <p:spPr>
          <a:xfrm>
            <a:off x="226142" y="161501"/>
            <a:ext cx="1599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8856B1-8287-C689-1FB6-DCE50F8A5546}"/>
              </a:ext>
            </a:extLst>
          </p:cNvPr>
          <p:cNvSpPr txBox="1"/>
          <p:nvPr/>
        </p:nvSpPr>
        <p:spPr>
          <a:xfrm>
            <a:off x="3978003" y="3589810"/>
            <a:ext cx="4261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Sales Mode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89AEA-08EF-30DA-E215-E593353C87C1}"/>
              </a:ext>
            </a:extLst>
          </p:cNvPr>
          <p:cNvSpPr txBox="1"/>
          <p:nvPr/>
        </p:nvSpPr>
        <p:spPr>
          <a:xfrm>
            <a:off x="4150989" y="1746262"/>
            <a:ext cx="3915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Customer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2D1B1-C655-354F-1CD8-20101865ACEC}"/>
              </a:ext>
            </a:extLst>
          </p:cNvPr>
          <p:cNvSpPr txBox="1"/>
          <p:nvPr/>
        </p:nvSpPr>
        <p:spPr>
          <a:xfrm>
            <a:off x="4268549" y="2668036"/>
            <a:ext cx="3680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Revenue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2AB97-C9BF-2087-9AEC-8094C7A16921}"/>
              </a:ext>
            </a:extLst>
          </p:cNvPr>
          <p:cNvSpPr txBox="1"/>
          <p:nvPr/>
        </p:nvSpPr>
        <p:spPr>
          <a:xfrm>
            <a:off x="4053775" y="4511584"/>
            <a:ext cx="410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Age Group Analysis</a:t>
            </a:r>
          </a:p>
        </p:txBody>
      </p:sp>
    </p:spTree>
    <p:extLst>
      <p:ext uri="{BB962C8B-B14F-4D97-AF65-F5344CB8AC3E}">
        <p14:creationId xmlns:p14="http://schemas.microsoft.com/office/powerpoint/2010/main" val="888344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C4A9D-3952-87F1-2D81-C350693A6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0DFF9B-DB5F-3CD3-BCC8-B510C0729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C319CD-6F4C-EE43-6A23-9211F4ACBB45}"/>
              </a:ext>
            </a:extLst>
          </p:cNvPr>
          <p:cNvSpPr txBox="1"/>
          <p:nvPr/>
        </p:nvSpPr>
        <p:spPr>
          <a:xfrm>
            <a:off x="226142" y="161501"/>
            <a:ext cx="1599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15F3D-9C1E-7563-9664-A95B11AD6F14}"/>
              </a:ext>
            </a:extLst>
          </p:cNvPr>
          <p:cNvSpPr txBox="1"/>
          <p:nvPr/>
        </p:nvSpPr>
        <p:spPr>
          <a:xfrm>
            <a:off x="3978003" y="3589810"/>
            <a:ext cx="4261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Sales Mode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DEA8A8-D532-6871-02B6-F9F1633FE185}"/>
              </a:ext>
            </a:extLst>
          </p:cNvPr>
          <p:cNvSpPr txBox="1"/>
          <p:nvPr/>
        </p:nvSpPr>
        <p:spPr>
          <a:xfrm>
            <a:off x="4150989" y="1746262"/>
            <a:ext cx="3915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Customer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A9C56-639F-28BA-31EA-F645976EF591}"/>
              </a:ext>
            </a:extLst>
          </p:cNvPr>
          <p:cNvSpPr txBox="1"/>
          <p:nvPr/>
        </p:nvSpPr>
        <p:spPr>
          <a:xfrm>
            <a:off x="4268549" y="2668036"/>
            <a:ext cx="3680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Revenue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5B8F94-ABBD-1C19-D787-26888DF3626D}"/>
              </a:ext>
            </a:extLst>
          </p:cNvPr>
          <p:cNvSpPr txBox="1"/>
          <p:nvPr/>
        </p:nvSpPr>
        <p:spPr>
          <a:xfrm>
            <a:off x="4053775" y="4511584"/>
            <a:ext cx="410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Age Group Analysis</a:t>
            </a:r>
          </a:p>
        </p:txBody>
      </p:sp>
    </p:spTree>
    <p:extLst>
      <p:ext uri="{BB962C8B-B14F-4D97-AF65-F5344CB8AC3E}">
        <p14:creationId xmlns:p14="http://schemas.microsoft.com/office/powerpoint/2010/main" val="6767987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6C3297-3223-3BEE-7239-3EAF4EFFF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4D498A-4035-90BA-33B4-4A213E78D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B6BB1F-1F0D-C0B0-95B4-423288CB2938}"/>
              </a:ext>
            </a:extLst>
          </p:cNvPr>
          <p:cNvSpPr txBox="1"/>
          <p:nvPr/>
        </p:nvSpPr>
        <p:spPr>
          <a:xfrm>
            <a:off x="226142" y="161501"/>
            <a:ext cx="1599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DC21CF-C2ED-852E-463A-E2968FD3BE68}"/>
              </a:ext>
            </a:extLst>
          </p:cNvPr>
          <p:cNvSpPr txBox="1"/>
          <p:nvPr/>
        </p:nvSpPr>
        <p:spPr>
          <a:xfrm>
            <a:off x="3978003" y="3589810"/>
            <a:ext cx="4261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Sales Mode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1DDFE-1ED5-02FE-B620-EE322D7E6548}"/>
              </a:ext>
            </a:extLst>
          </p:cNvPr>
          <p:cNvSpPr txBox="1"/>
          <p:nvPr/>
        </p:nvSpPr>
        <p:spPr>
          <a:xfrm>
            <a:off x="4150989" y="1746262"/>
            <a:ext cx="3915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Customer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D920D9-E5DD-0C67-B883-AF982DE2FB74}"/>
              </a:ext>
            </a:extLst>
          </p:cNvPr>
          <p:cNvSpPr txBox="1"/>
          <p:nvPr/>
        </p:nvSpPr>
        <p:spPr>
          <a:xfrm>
            <a:off x="4268549" y="2668036"/>
            <a:ext cx="3680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Revenue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0E4726-05E8-413A-FABB-E4D900E53864}"/>
              </a:ext>
            </a:extLst>
          </p:cNvPr>
          <p:cNvSpPr txBox="1"/>
          <p:nvPr/>
        </p:nvSpPr>
        <p:spPr>
          <a:xfrm>
            <a:off x="4053775" y="4511584"/>
            <a:ext cx="410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Age Group Analysis</a:t>
            </a:r>
          </a:p>
        </p:txBody>
      </p:sp>
    </p:spTree>
    <p:extLst>
      <p:ext uri="{BB962C8B-B14F-4D97-AF65-F5344CB8AC3E}">
        <p14:creationId xmlns:p14="http://schemas.microsoft.com/office/powerpoint/2010/main" val="42711998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8BAD5-E584-0F87-D36E-018442F20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1F59B2-50D8-4CCB-7C28-D0666000A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174B7E-9241-7D63-A706-3F1F33D14E00}"/>
              </a:ext>
            </a:extLst>
          </p:cNvPr>
          <p:cNvSpPr txBox="1"/>
          <p:nvPr/>
        </p:nvSpPr>
        <p:spPr>
          <a:xfrm>
            <a:off x="226142" y="161501"/>
            <a:ext cx="1599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0958C0-F5C9-62D7-C669-5E456BBC699F}"/>
              </a:ext>
            </a:extLst>
          </p:cNvPr>
          <p:cNvSpPr txBox="1"/>
          <p:nvPr/>
        </p:nvSpPr>
        <p:spPr>
          <a:xfrm>
            <a:off x="3978003" y="3589810"/>
            <a:ext cx="4261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Sales Mode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125188-6C50-5D70-E790-F994C9862721}"/>
              </a:ext>
            </a:extLst>
          </p:cNvPr>
          <p:cNvSpPr txBox="1"/>
          <p:nvPr/>
        </p:nvSpPr>
        <p:spPr>
          <a:xfrm>
            <a:off x="4150989" y="1746262"/>
            <a:ext cx="3915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Customer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DB7228-2643-94F6-553B-6C521A38D5E4}"/>
              </a:ext>
            </a:extLst>
          </p:cNvPr>
          <p:cNvSpPr txBox="1"/>
          <p:nvPr/>
        </p:nvSpPr>
        <p:spPr>
          <a:xfrm>
            <a:off x="4268549" y="2668036"/>
            <a:ext cx="3680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Revenue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D799EC-2B64-7E29-1EAC-418FCF9211CB}"/>
              </a:ext>
            </a:extLst>
          </p:cNvPr>
          <p:cNvSpPr txBox="1"/>
          <p:nvPr/>
        </p:nvSpPr>
        <p:spPr>
          <a:xfrm>
            <a:off x="4053775" y="4511584"/>
            <a:ext cx="410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Age Group Analysis</a:t>
            </a:r>
          </a:p>
        </p:txBody>
      </p:sp>
    </p:spTree>
    <p:extLst>
      <p:ext uri="{BB962C8B-B14F-4D97-AF65-F5344CB8AC3E}">
        <p14:creationId xmlns:p14="http://schemas.microsoft.com/office/powerpoint/2010/main" val="13294589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03705-5E1A-433F-6841-8571A95A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194816-9863-6374-0B27-A795FCC0B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CC0081-837F-1D03-3E1B-41EA8733EB19}"/>
              </a:ext>
            </a:extLst>
          </p:cNvPr>
          <p:cNvSpPr txBox="1"/>
          <p:nvPr/>
        </p:nvSpPr>
        <p:spPr>
          <a:xfrm>
            <a:off x="226142" y="161501"/>
            <a:ext cx="1599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5516E6-9C4B-BF32-E325-8DD25F538002}"/>
              </a:ext>
            </a:extLst>
          </p:cNvPr>
          <p:cNvSpPr txBox="1"/>
          <p:nvPr/>
        </p:nvSpPr>
        <p:spPr>
          <a:xfrm>
            <a:off x="3978003" y="3589810"/>
            <a:ext cx="4261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Sales Mode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8558B8-A8E2-C416-CC65-3608FE04E7E3}"/>
              </a:ext>
            </a:extLst>
          </p:cNvPr>
          <p:cNvSpPr txBox="1"/>
          <p:nvPr/>
        </p:nvSpPr>
        <p:spPr>
          <a:xfrm>
            <a:off x="4150989" y="1746262"/>
            <a:ext cx="3915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Customer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794D7-BB6D-9A88-F04F-FC56C027B1F8}"/>
              </a:ext>
            </a:extLst>
          </p:cNvPr>
          <p:cNvSpPr txBox="1"/>
          <p:nvPr/>
        </p:nvSpPr>
        <p:spPr>
          <a:xfrm>
            <a:off x="4268549" y="2668036"/>
            <a:ext cx="3680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Revenue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6D0A68-1583-C029-1863-DAB77C1B609A}"/>
              </a:ext>
            </a:extLst>
          </p:cNvPr>
          <p:cNvSpPr txBox="1"/>
          <p:nvPr/>
        </p:nvSpPr>
        <p:spPr>
          <a:xfrm>
            <a:off x="4053775" y="4511584"/>
            <a:ext cx="410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Age Group Analysis</a:t>
            </a:r>
          </a:p>
        </p:txBody>
      </p:sp>
    </p:spTree>
    <p:extLst>
      <p:ext uri="{BB962C8B-B14F-4D97-AF65-F5344CB8AC3E}">
        <p14:creationId xmlns:p14="http://schemas.microsoft.com/office/powerpoint/2010/main" val="9243092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78A612-462D-31C2-FE8F-0397F5D4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1DC9E7-2E1C-6B3C-F693-31BF88F72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401BF9-6B5B-0929-5CE9-F009CF281E4D}"/>
              </a:ext>
            </a:extLst>
          </p:cNvPr>
          <p:cNvSpPr txBox="1"/>
          <p:nvPr/>
        </p:nvSpPr>
        <p:spPr>
          <a:xfrm>
            <a:off x="226142" y="161501"/>
            <a:ext cx="340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Customer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34FE14-9BED-FEB5-CBDB-9A0FDA585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49" y="1305802"/>
            <a:ext cx="2625261" cy="14705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29CFEA-5A56-CE9E-F6AD-31404C0D4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349" y="3377802"/>
            <a:ext cx="6120554" cy="22179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DA355AB-71E9-BEA9-000E-AD0F7BC306BF}"/>
              </a:ext>
            </a:extLst>
          </p:cNvPr>
          <p:cNvSpPr txBox="1"/>
          <p:nvPr/>
        </p:nvSpPr>
        <p:spPr>
          <a:xfrm>
            <a:off x="7368270" y="3377802"/>
            <a:ext cx="410988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rgbClr val="92D050"/>
                </a:solidFill>
                <a:latin typeface="Avenir Next LT Pro" panose="020B0504020202020204" pitchFamily="34" charset="0"/>
              </a:rPr>
              <a:t>82% or 2200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customers surge against previous month in March, 23</a:t>
            </a:r>
          </a:p>
        </p:txBody>
      </p:sp>
    </p:spTree>
    <p:extLst>
      <p:ext uri="{BB962C8B-B14F-4D97-AF65-F5344CB8AC3E}">
        <p14:creationId xmlns:p14="http://schemas.microsoft.com/office/powerpoint/2010/main" val="29227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90902-E852-2DC4-016E-AE37A1971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769247-536F-B355-225A-9F4819216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932EEA-33E6-7F8F-381C-8E4A8F5C053F}"/>
              </a:ext>
            </a:extLst>
          </p:cNvPr>
          <p:cNvSpPr txBox="1"/>
          <p:nvPr/>
        </p:nvSpPr>
        <p:spPr>
          <a:xfrm>
            <a:off x="226142" y="161501"/>
            <a:ext cx="340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Customer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9B50E-72E2-CD01-2D25-508CCEB36AD1}"/>
              </a:ext>
            </a:extLst>
          </p:cNvPr>
          <p:cNvSpPr txBox="1"/>
          <p:nvPr/>
        </p:nvSpPr>
        <p:spPr>
          <a:xfrm>
            <a:off x="6608695" y="2070864"/>
            <a:ext cx="47727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rgbClr val="92D050"/>
                </a:solidFill>
                <a:latin typeface="Avenir Next LT Pro" panose="020B0504020202020204" pitchFamily="34" charset="0"/>
              </a:rPr>
              <a:t>Delhi NCR, Mumbai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are the growth engine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59F9D5-261D-6B45-8368-22FBF0377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56" y="2070864"/>
            <a:ext cx="5585944" cy="26291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5F4D71-C081-6806-DBD5-34B04A744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069529" y="3429000"/>
            <a:ext cx="6120554" cy="221794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9961CE5-40C0-DDFF-C07D-990086ED0A05}"/>
              </a:ext>
            </a:extLst>
          </p:cNvPr>
          <p:cNvSpPr/>
          <p:nvPr/>
        </p:nvSpPr>
        <p:spPr>
          <a:xfrm>
            <a:off x="2499160" y="4398613"/>
            <a:ext cx="803868" cy="278717"/>
          </a:xfrm>
          <a:prstGeom prst="rect">
            <a:avLst/>
          </a:prstGeom>
          <a:solidFill>
            <a:srgbClr val="92D050">
              <a:alpha val="0"/>
            </a:srgbClr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EC10A2-7EBB-12BF-906C-E4943ADAB2C0}"/>
              </a:ext>
            </a:extLst>
          </p:cNvPr>
          <p:cNvSpPr/>
          <p:nvPr/>
        </p:nvSpPr>
        <p:spPr>
          <a:xfrm>
            <a:off x="4118620" y="4398612"/>
            <a:ext cx="803868" cy="278717"/>
          </a:xfrm>
          <a:prstGeom prst="rect">
            <a:avLst/>
          </a:prstGeom>
          <a:solidFill>
            <a:srgbClr val="92D050">
              <a:alpha val="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F3409D-268A-5716-2801-F1C7C2D6B599}"/>
              </a:ext>
            </a:extLst>
          </p:cNvPr>
          <p:cNvSpPr txBox="1"/>
          <p:nvPr/>
        </p:nvSpPr>
        <p:spPr>
          <a:xfrm>
            <a:off x="6400800" y="3709919"/>
            <a:ext cx="49806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rgbClr val="FF0000"/>
                </a:solidFill>
                <a:latin typeface="Avenir Next LT Pro" panose="020B0504020202020204" pitchFamily="34" charset="0"/>
              </a:rPr>
              <a:t>Indore and Chennai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remains fairly untapped</a:t>
            </a:r>
          </a:p>
        </p:txBody>
      </p:sp>
    </p:spTree>
    <p:extLst>
      <p:ext uri="{BB962C8B-B14F-4D97-AF65-F5344CB8AC3E}">
        <p14:creationId xmlns:p14="http://schemas.microsoft.com/office/powerpoint/2010/main" val="661098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52D17D-554D-AC25-EE98-D5AE0DF75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C180BD-F1CA-351C-4D74-EF39F2555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6A7C6B-4A50-A56F-6D1F-77047AF40029}"/>
              </a:ext>
            </a:extLst>
          </p:cNvPr>
          <p:cNvSpPr txBox="1"/>
          <p:nvPr/>
        </p:nvSpPr>
        <p:spPr>
          <a:xfrm>
            <a:off x="226142" y="161501"/>
            <a:ext cx="340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Customer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0994EF-9DE3-35EE-293C-B7CDBD0EA6CA}"/>
              </a:ext>
            </a:extLst>
          </p:cNvPr>
          <p:cNvSpPr txBox="1"/>
          <p:nvPr/>
        </p:nvSpPr>
        <p:spPr>
          <a:xfrm>
            <a:off x="1770320" y="1130926"/>
            <a:ext cx="41098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rgbClr val="92D050"/>
                </a:solidFill>
                <a:latin typeface="Avenir Next LT Pro" panose="020B0504020202020204" pitchFamily="34" charset="0"/>
              </a:rPr>
              <a:t>(31-40)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is the core segment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7C031-8AD1-6296-1469-CD19A7908F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85"/>
          <a:stretch>
            <a:fillRect/>
          </a:stretch>
        </p:blipFill>
        <p:spPr>
          <a:xfrm>
            <a:off x="5954206" y="1627832"/>
            <a:ext cx="5532599" cy="27272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28551C-BE76-8EDF-DFF7-8C089B64E874}"/>
              </a:ext>
            </a:extLst>
          </p:cNvPr>
          <p:cNvSpPr txBox="1"/>
          <p:nvPr/>
        </p:nvSpPr>
        <p:spPr>
          <a:xfrm>
            <a:off x="322241" y="2342292"/>
            <a:ext cx="56319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rgbClr val="FFFF00"/>
                </a:solidFill>
                <a:latin typeface="Avenir Next LT Pro" panose="020B0504020202020204" pitchFamily="34" charset="0"/>
              </a:rPr>
              <a:t>(41-50) 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has also high customer &amp; revenue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868E2-743D-3DDB-1104-B8E96C2575E6}"/>
              </a:ext>
            </a:extLst>
          </p:cNvPr>
          <p:cNvSpPr txBox="1"/>
          <p:nvPr/>
        </p:nvSpPr>
        <p:spPr>
          <a:xfrm>
            <a:off x="-111584" y="3553658"/>
            <a:ext cx="59917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rgbClr val="FFC000"/>
                </a:solidFill>
                <a:latin typeface="Avenir Next LT Pro" panose="020B0504020202020204" pitchFamily="34" charset="0"/>
              </a:rPr>
              <a:t>(65+), (51-65) 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has lesser customer but higher revenue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4058A-97DB-53A0-3510-5B7451DF3271}"/>
              </a:ext>
            </a:extLst>
          </p:cNvPr>
          <p:cNvSpPr txBox="1"/>
          <p:nvPr/>
        </p:nvSpPr>
        <p:spPr>
          <a:xfrm>
            <a:off x="248239" y="4765024"/>
            <a:ext cx="56319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rgbClr val="FF0000"/>
                </a:solidFill>
                <a:latin typeface="Avenir Next LT Pro" panose="020B0504020202020204" pitchFamily="34" charset="0"/>
              </a:rPr>
              <a:t>(18-24), (25-30) 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has lower customer and revenue</a:t>
            </a:r>
          </a:p>
        </p:txBody>
      </p:sp>
    </p:spTree>
    <p:extLst>
      <p:ext uri="{BB962C8B-B14F-4D97-AF65-F5344CB8AC3E}">
        <p14:creationId xmlns:p14="http://schemas.microsoft.com/office/powerpoint/2010/main" val="1027571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" grpId="0"/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545316-BDC3-1E06-9464-46FC77D8B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155457-7FCE-4A82-32C7-7A56AD5F6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2B32FF-52DA-5312-FD67-E3B30F760305}"/>
              </a:ext>
            </a:extLst>
          </p:cNvPr>
          <p:cNvSpPr txBox="1"/>
          <p:nvPr/>
        </p:nvSpPr>
        <p:spPr>
          <a:xfrm>
            <a:off x="226142" y="161501"/>
            <a:ext cx="340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Revenue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9D956A-DCBF-4C0E-B916-F866C66E7AC9}"/>
              </a:ext>
            </a:extLst>
          </p:cNvPr>
          <p:cNvSpPr txBox="1"/>
          <p:nvPr/>
        </p:nvSpPr>
        <p:spPr>
          <a:xfrm>
            <a:off x="-4561285" y="2185297"/>
            <a:ext cx="410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Age Group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5E678B-C008-5C60-9F0F-C4DEB55AA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8389" y="588987"/>
            <a:ext cx="5468715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60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2FD2EE-0B54-3B1B-CB29-40D887FFF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2DB9BF-CAA7-1434-095C-DC2F20985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EBC4D-9B4E-D62B-BB84-5E20E42C6C1C}"/>
              </a:ext>
            </a:extLst>
          </p:cNvPr>
          <p:cNvSpPr txBox="1"/>
          <p:nvPr/>
        </p:nvSpPr>
        <p:spPr>
          <a:xfrm>
            <a:off x="226142" y="161501"/>
            <a:ext cx="340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Revenue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9FBB43-33F9-862A-B04C-85BBE406BB19}"/>
              </a:ext>
            </a:extLst>
          </p:cNvPr>
          <p:cNvSpPr txBox="1"/>
          <p:nvPr/>
        </p:nvSpPr>
        <p:spPr>
          <a:xfrm>
            <a:off x="7418512" y="3274430"/>
            <a:ext cx="41098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Similar</a:t>
            </a:r>
            <a:r>
              <a:rPr lang="en-IN" sz="3200" b="1" dirty="0">
                <a:solidFill>
                  <a:srgbClr val="92D050"/>
                </a:solidFill>
                <a:latin typeface="Avenir Next LT Pro" panose="020B0504020202020204" pitchFamily="34" charset="0"/>
              </a:rPr>
              <a:t> 84% or 121M 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Rupees</a:t>
            </a:r>
            <a:r>
              <a:rPr lang="en-IN" sz="3200" b="1" dirty="0">
                <a:solidFill>
                  <a:srgbClr val="92D050"/>
                </a:solidFill>
                <a:latin typeface="Avenir Next LT Pro" panose="020B0504020202020204" pitchFamily="34" charset="0"/>
              </a:rPr>
              <a:t>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revenue surge against previous month in March, 23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DB8584-F227-FBF9-772E-FDC2FDE7C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48" y="1320356"/>
            <a:ext cx="2625261" cy="15175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629687-772C-775E-7276-B08552309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348" y="3377802"/>
            <a:ext cx="6151656" cy="221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46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F25FC2-6CF7-689A-1487-957C5D99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02D826-E648-53BD-B0A4-A3C599212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42CE15-6296-9DBD-434B-23C762B9B81B}"/>
              </a:ext>
            </a:extLst>
          </p:cNvPr>
          <p:cNvSpPr txBox="1"/>
          <p:nvPr/>
        </p:nvSpPr>
        <p:spPr>
          <a:xfrm>
            <a:off x="226142" y="161501"/>
            <a:ext cx="340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Revenue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CA55F3-2888-A730-B5D8-D2FF90D69E0C}"/>
              </a:ext>
            </a:extLst>
          </p:cNvPr>
          <p:cNvSpPr txBox="1"/>
          <p:nvPr/>
        </p:nvSpPr>
        <p:spPr>
          <a:xfrm>
            <a:off x="6543196" y="2066169"/>
            <a:ext cx="51387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rgbClr val="92D050"/>
                </a:solidFill>
                <a:latin typeface="Avenir Next LT Pro" panose="020B0504020202020204" pitchFamily="34" charset="0"/>
              </a:rPr>
              <a:t>Delhi NCR, Mumbai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are the leader in revenue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09F291-F66E-6EB4-7118-C68029848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56" y="2133629"/>
            <a:ext cx="5677392" cy="26138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3EED65-BF74-12CD-775E-625582BE3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12501" y="3304574"/>
            <a:ext cx="6151656" cy="22179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6C9B27-7D26-AA7E-0B44-099C38BFBBEE}"/>
              </a:ext>
            </a:extLst>
          </p:cNvPr>
          <p:cNvSpPr/>
          <p:nvPr/>
        </p:nvSpPr>
        <p:spPr>
          <a:xfrm>
            <a:off x="2398680" y="4468949"/>
            <a:ext cx="803868" cy="278717"/>
          </a:xfrm>
          <a:prstGeom prst="rect">
            <a:avLst/>
          </a:prstGeom>
          <a:solidFill>
            <a:srgbClr val="92D050">
              <a:alpha val="0"/>
            </a:srgbClr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69626A-5FFD-E59C-71D3-8FFC97A49C7F}"/>
              </a:ext>
            </a:extLst>
          </p:cNvPr>
          <p:cNvSpPr txBox="1"/>
          <p:nvPr/>
        </p:nvSpPr>
        <p:spPr>
          <a:xfrm>
            <a:off x="6260123" y="3714613"/>
            <a:ext cx="54218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While</a:t>
            </a:r>
            <a:r>
              <a:rPr lang="en-IN" sz="3200" b="1" dirty="0">
                <a:solidFill>
                  <a:srgbClr val="FF0000"/>
                </a:solidFill>
                <a:latin typeface="Avenir Next LT Pro" panose="020B0504020202020204" pitchFamily="34" charset="0"/>
              </a:rPr>
              <a:t> Indore and Chennai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has lower revenue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6B0FC2-1671-2524-6AA6-A45F8C46D444}"/>
              </a:ext>
            </a:extLst>
          </p:cNvPr>
          <p:cNvSpPr/>
          <p:nvPr/>
        </p:nvSpPr>
        <p:spPr>
          <a:xfrm>
            <a:off x="4063401" y="4468949"/>
            <a:ext cx="649276" cy="278567"/>
          </a:xfrm>
          <a:prstGeom prst="rect">
            <a:avLst/>
          </a:prstGeom>
          <a:solidFill>
            <a:srgbClr val="92D050">
              <a:alpha val="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127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DF4713-512B-70C9-EA24-2E1A05E2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173779-FD75-15DC-F03A-667F846FA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421415-3A65-933D-166E-8796873B6E0E}"/>
              </a:ext>
            </a:extLst>
          </p:cNvPr>
          <p:cNvSpPr txBox="1"/>
          <p:nvPr/>
        </p:nvSpPr>
        <p:spPr>
          <a:xfrm>
            <a:off x="226142" y="161501"/>
            <a:ext cx="4021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Sales Mode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8FE6D8-887E-8E53-F682-BCB247DDB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7363" y="2144918"/>
            <a:ext cx="7254869" cy="25910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AA33B28-0536-91BA-5BDA-D00EE3250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999775" y="2144918"/>
            <a:ext cx="10745131" cy="25681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8F0829-4944-226A-75C2-C85E86DE6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249903" y="2122056"/>
            <a:ext cx="5677392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66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11E3A-39E0-CE99-5594-EDFC01894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898A25-EE05-7D3D-D60B-98054EA93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901C6D-9DB3-3576-7579-89153B8F242F}"/>
              </a:ext>
            </a:extLst>
          </p:cNvPr>
          <p:cNvSpPr txBox="1"/>
          <p:nvPr/>
        </p:nvSpPr>
        <p:spPr>
          <a:xfrm>
            <a:off x="226142" y="161501"/>
            <a:ext cx="4021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Sales Mode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369856-43AA-CBF3-593D-55F5DA055DBD}"/>
              </a:ext>
            </a:extLst>
          </p:cNvPr>
          <p:cNvSpPr txBox="1"/>
          <p:nvPr/>
        </p:nvSpPr>
        <p:spPr>
          <a:xfrm>
            <a:off x="636282" y="4146625"/>
            <a:ext cx="32687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rgbClr val="92D050"/>
                </a:solidFill>
                <a:latin typeface="Avenir Next LT Pro" panose="020B0504020202020204" pitchFamily="34" charset="0"/>
              </a:rPr>
              <a:t>Offline – Agent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is way higher than other modes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02A4CB-2881-75D9-8884-6984F490C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82" y="1326947"/>
            <a:ext cx="10745131" cy="25681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B82F31-E0AD-D46B-623F-D137D473662A}"/>
              </a:ext>
            </a:extLst>
          </p:cNvPr>
          <p:cNvSpPr txBox="1"/>
          <p:nvPr/>
        </p:nvSpPr>
        <p:spPr>
          <a:xfrm>
            <a:off x="4454119" y="4146624"/>
            <a:ext cx="302747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rgbClr val="FFFF00"/>
                </a:solidFill>
                <a:latin typeface="Avenir Next LT Pro" panose="020B0504020202020204" pitchFamily="34" charset="0"/>
              </a:rPr>
              <a:t>Online – App &amp; Website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is the rising sales modes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99B57-242E-FB85-B873-DA95A02C565C}"/>
              </a:ext>
            </a:extLst>
          </p:cNvPr>
          <p:cNvSpPr txBox="1"/>
          <p:nvPr/>
        </p:nvSpPr>
        <p:spPr>
          <a:xfrm>
            <a:off x="8030712" y="4146625"/>
            <a:ext cx="3350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rgbClr val="FF0000"/>
                </a:solidFill>
                <a:latin typeface="Avenir Next LT Pro" panose="020B0504020202020204" pitchFamily="34" charset="0"/>
              </a:rPr>
              <a:t>Offline – Direct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is loosing popularity</a:t>
            </a:r>
          </a:p>
        </p:txBody>
      </p:sp>
    </p:spTree>
    <p:extLst>
      <p:ext uri="{BB962C8B-B14F-4D97-AF65-F5344CB8AC3E}">
        <p14:creationId xmlns:p14="http://schemas.microsoft.com/office/powerpoint/2010/main" val="1216032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21B9C-0678-ABF5-316E-F454D8879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F53662-6B76-AB34-4D9F-D1C563E09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5C86F6-45C9-4743-DE2F-543F309F6413}"/>
              </a:ext>
            </a:extLst>
          </p:cNvPr>
          <p:cNvSpPr txBox="1"/>
          <p:nvPr/>
        </p:nvSpPr>
        <p:spPr>
          <a:xfrm>
            <a:off x="226142" y="161501"/>
            <a:ext cx="4021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Sales Mode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D9D7D6-85CE-02F2-A68C-86981368A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1265" y="1213224"/>
            <a:ext cx="10745131" cy="25681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5076CA-C7EF-EFEA-7FCE-D05972CFEB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32"/>
          <a:stretch>
            <a:fillRect/>
          </a:stretch>
        </p:blipFill>
        <p:spPr>
          <a:xfrm>
            <a:off x="682581" y="1213223"/>
            <a:ext cx="4698210" cy="19520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2F8EA3-CFD0-733E-8887-0AF1D4A39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62" y="1211359"/>
            <a:ext cx="4549731" cy="19538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EB9930-558E-C74A-93C7-BF57C154B96B}"/>
              </a:ext>
            </a:extLst>
          </p:cNvPr>
          <p:cNvSpPr txBox="1"/>
          <p:nvPr/>
        </p:nvSpPr>
        <p:spPr>
          <a:xfrm>
            <a:off x="2321170" y="4013781"/>
            <a:ext cx="7906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rgbClr val="92D050"/>
                </a:solidFill>
                <a:latin typeface="Avenir Next LT Pro" panose="020B0504020202020204" pitchFamily="34" charset="0"/>
              </a:rPr>
              <a:t>Offline – Agent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dominates both (55%)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CDEFA9-9C89-46E6-F4D5-E58C536268E4}"/>
              </a:ext>
            </a:extLst>
          </p:cNvPr>
          <p:cNvSpPr txBox="1"/>
          <p:nvPr/>
        </p:nvSpPr>
        <p:spPr>
          <a:xfrm>
            <a:off x="1974501" y="5123092"/>
            <a:ext cx="85996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rgbClr val="FFC000"/>
                </a:solidFill>
                <a:latin typeface="Avenir Next LT Pro" panose="020B0504020202020204" pitchFamily="34" charset="0"/>
              </a:rPr>
              <a:t>Online – App &amp; Website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underperforming relative to market potential</a:t>
            </a:r>
          </a:p>
        </p:txBody>
      </p:sp>
    </p:spTree>
    <p:extLst>
      <p:ext uri="{BB962C8B-B14F-4D97-AF65-F5344CB8AC3E}">
        <p14:creationId xmlns:p14="http://schemas.microsoft.com/office/powerpoint/2010/main" val="3848625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200F3-A6EB-D855-5228-788FCB9A9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2B858A-F4B7-CA23-1B2D-EBC122AF5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74CF67-87DA-E9E5-A17B-42B7E7783F7C}"/>
              </a:ext>
            </a:extLst>
          </p:cNvPr>
          <p:cNvSpPr txBox="1"/>
          <p:nvPr/>
        </p:nvSpPr>
        <p:spPr>
          <a:xfrm>
            <a:off x="226142" y="161501"/>
            <a:ext cx="4021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Age Group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FE2D1-8DC6-B6B7-F6A5-2FD6A95EE9B0}"/>
              </a:ext>
            </a:extLst>
          </p:cNvPr>
          <p:cNvSpPr txBox="1"/>
          <p:nvPr/>
        </p:nvSpPr>
        <p:spPr>
          <a:xfrm>
            <a:off x="1564879" y="4166881"/>
            <a:ext cx="33414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(31-40) buys mostly from App and Agent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0F23B0-08CF-E686-F095-F9BA71997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57" y="1241957"/>
            <a:ext cx="11087686" cy="22791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72F00C-E80E-772D-8146-02162618CF18}"/>
              </a:ext>
            </a:extLst>
          </p:cNvPr>
          <p:cNvSpPr txBox="1"/>
          <p:nvPr/>
        </p:nvSpPr>
        <p:spPr>
          <a:xfrm>
            <a:off x="6992284" y="4166881"/>
            <a:ext cx="33414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(18-24) buys mostly from Direct offline</a:t>
            </a:r>
          </a:p>
        </p:txBody>
      </p:sp>
    </p:spTree>
    <p:extLst>
      <p:ext uri="{BB962C8B-B14F-4D97-AF65-F5344CB8AC3E}">
        <p14:creationId xmlns:p14="http://schemas.microsoft.com/office/powerpoint/2010/main" val="3282917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79B9DD-9E3D-9B53-4AD6-B448311A4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6E3C26-8C4C-A917-B014-4F34B5064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8A89CE-D0D0-33D6-85E1-E71E7438CB17}"/>
              </a:ext>
            </a:extLst>
          </p:cNvPr>
          <p:cNvSpPr txBox="1"/>
          <p:nvPr/>
        </p:nvSpPr>
        <p:spPr>
          <a:xfrm>
            <a:off x="226142" y="161501"/>
            <a:ext cx="4021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Age Group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5174C-5951-356A-22D9-6322B6C689BB}"/>
              </a:ext>
            </a:extLst>
          </p:cNvPr>
          <p:cNvSpPr txBox="1"/>
          <p:nvPr/>
        </p:nvSpPr>
        <p:spPr>
          <a:xfrm>
            <a:off x="8036845" y="4612529"/>
            <a:ext cx="37699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POL6303HEL is the most popular among elders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25E0C0-5455-AC63-3A2E-24EA8AF3F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6248" y="1045630"/>
            <a:ext cx="11087686" cy="22791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0C4710-59F7-2B36-409A-128AC2109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73" y="979076"/>
            <a:ext cx="9243146" cy="33390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6A1DBE-6C03-19C9-E528-9B335950567A}"/>
              </a:ext>
            </a:extLst>
          </p:cNvPr>
          <p:cNvSpPr txBox="1"/>
          <p:nvPr/>
        </p:nvSpPr>
        <p:spPr>
          <a:xfrm>
            <a:off x="226142" y="4612528"/>
            <a:ext cx="353702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POL1048HEL is the most popular among youngsters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D2F7A-4681-E4CA-C56C-EBEDCBB11EE1}"/>
              </a:ext>
            </a:extLst>
          </p:cNvPr>
          <p:cNvSpPr txBox="1"/>
          <p:nvPr/>
        </p:nvSpPr>
        <p:spPr>
          <a:xfrm>
            <a:off x="4463143" y="4612528"/>
            <a:ext cx="326571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POL2005HEL is the most popular among mid-aged</a:t>
            </a:r>
          </a:p>
        </p:txBody>
      </p:sp>
    </p:spTree>
    <p:extLst>
      <p:ext uri="{BB962C8B-B14F-4D97-AF65-F5344CB8AC3E}">
        <p14:creationId xmlns:p14="http://schemas.microsoft.com/office/powerpoint/2010/main" val="3346030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4B9D9-1CB5-C7CF-ABA3-951EC933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E19457-49B3-96B7-1996-8EEC0D7F2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D037A4-FE0D-92CB-27E5-9C1C3D405036}"/>
              </a:ext>
            </a:extLst>
          </p:cNvPr>
          <p:cNvSpPr txBox="1"/>
          <p:nvPr/>
        </p:nvSpPr>
        <p:spPr>
          <a:xfrm>
            <a:off x="226142" y="161501"/>
            <a:ext cx="4021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Age Group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62E1C2-D751-6666-9A3D-B32992DEB18D}"/>
              </a:ext>
            </a:extLst>
          </p:cNvPr>
          <p:cNvSpPr txBox="1"/>
          <p:nvPr/>
        </p:nvSpPr>
        <p:spPr>
          <a:xfrm>
            <a:off x="481396" y="1488609"/>
            <a:ext cx="51577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rgbClr val="00B050"/>
                </a:solidFill>
                <a:latin typeface="Avenir Next LT Pro" panose="020B0504020202020204" pitchFamily="34" charset="0"/>
              </a:rPr>
              <a:t>(65+)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has the best settlement rate, shows payment reliability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A2AE97-6883-7088-233A-13833CD48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48259" y="1094822"/>
            <a:ext cx="9243146" cy="33390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BCCF73-F674-5E42-488D-54518B28E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627" y="766916"/>
            <a:ext cx="5157786" cy="43505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2059CA-35FA-7AC2-C0CB-6C675C7E6FAC}"/>
              </a:ext>
            </a:extLst>
          </p:cNvPr>
          <p:cNvSpPr txBox="1"/>
          <p:nvPr/>
        </p:nvSpPr>
        <p:spPr>
          <a:xfrm>
            <a:off x="551734" y="3799731"/>
            <a:ext cx="51577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rgbClr val="92D050"/>
                </a:solidFill>
                <a:latin typeface="Avenir Next LT Pro" panose="020B0504020202020204" pitchFamily="34" charset="0"/>
              </a:rPr>
              <a:t>(31-40)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, </a:t>
            </a:r>
            <a:r>
              <a:rPr lang="en-IN" sz="3200" b="1" dirty="0">
                <a:solidFill>
                  <a:srgbClr val="92D050"/>
                </a:solidFill>
                <a:latin typeface="Avenir Next LT Pro" panose="020B0504020202020204" pitchFamily="34" charset="0"/>
              </a:rPr>
              <a:t>(41-50) </a:t>
            </a: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has the best balance between settlement &amp; revenue</a:t>
            </a:r>
          </a:p>
        </p:txBody>
      </p:sp>
    </p:spTree>
    <p:extLst>
      <p:ext uri="{BB962C8B-B14F-4D97-AF65-F5344CB8AC3E}">
        <p14:creationId xmlns:p14="http://schemas.microsoft.com/office/powerpoint/2010/main" val="2646503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3E1B9-255C-7797-3ECF-95125C1B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53D20E-C96B-35D6-DA6D-359B774AC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8FD633-E8BF-69F3-C2FC-3752A69EDB02}"/>
              </a:ext>
            </a:extLst>
          </p:cNvPr>
          <p:cNvSpPr txBox="1"/>
          <p:nvPr/>
        </p:nvSpPr>
        <p:spPr>
          <a:xfrm>
            <a:off x="226143" y="161501"/>
            <a:ext cx="2551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Suggestions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4A6061-0169-595B-EB1F-F55652F3C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6674" y="766916"/>
            <a:ext cx="5157786" cy="435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030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02F0E-2A59-8612-3863-B6183579B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6280CA-BBE3-0839-D030-90EC9075C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C2537C-CF84-8C21-2F61-F6FE85EE6091}"/>
              </a:ext>
            </a:extLst>
          </p:cNvPr>
          <p:cNvSpPr txBox="1"/>
          <p:nvPr/>
        </p:nvSpPr>
        <p:spPr>
          <a:xfrm>
            <a:off x="226143" y="161501"/>
            <a:ext cx="2551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Suggestions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80CC7-0CD8-4D25-3F56-5286EB62B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6674" y="766916"/>
            <a:ext cx="5157786" cy="43505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2D0356-69CC-20AF-3CA8-B37EA9C9BA9A}"/>
              </a:ext>
            </a:extLst>
          </p:cNvPr>
          <p:cNvSpPr txBox="1"/>
          <p:nvPr/>
        </p:nvSpPr>
        <p:spPr>
          <a:xfrm>
            <a:off x="2599175" y="1232759"/>
            <a:ext cx="6993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Grow younger customer segment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EC946-BB8C-595B-F2A8-E35A1A429DF7}"/>
              </a:ext>
            </a:extLst>
          </p:cNvPr>
          <p:cNvSpPr txBox="1"/>
          <p:nvPr/>
        </p:nvSpPr>
        <p:spPr>
          <a:xfrm>
            <a:off x="3050678" y="2689881"/>
            <a:ext cx="6090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1. Launch affordable policies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85B18-2783-CDA7-0586-E03A58443435}"/>
              </a:ext>
            </a:extLst>
          </p:cNvPr>
          <p:cNvSpPr txBox="1"/>
          <p:nvPr/>
        </p:nvSpPr>
        <p:spPr>
          <a:xfrm>
            <a:off x="1877423" y="3535123"/>
            <a:ext cx="7931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2. College &amp; University campaigns</a:t>
            </a:r>
          </a:p>
        </p:txBody>
      </p:sp>
    </p:spTree>
    <p:extLst>
      <p:ext uri="{BB962C8B-B14F-4D97-AF65-F5344CB8AC3E}">
        <p14:creationId xmlns:p14="http://schemas.microsoft.com/office/powerpoint/2010/main" val="2053738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F8CE01-2097-7DE7-3089-DCCB7C51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248C88-2E74-A480-7A3B-989ECA5BF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E38821-1E63-C280-4BB0-EBF3F6511561}"/>
              </a:ext>
            </a:extLst>
          </p:cNvPr>
          <p:cNvSpPr txBox="1"/>
          <p:nvPr/>
        </p:nvSpPr>
        <p:spPr>
          <a:xfrm>
            <a:off x="226143" y="161501"/>
            <a:ext cx="2551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Suggestions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FFBDC-293E-EB87-A680-3C91F0633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6674" y="766916"/>
            <a:ext cx="5157786" cy="43505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C44099-6581-8ECB-150C-A3E3D0E28DAF}"/>
              </a:ext>
            </a:extLst>
          </p:cNvPr>
          <p:cNvSpPr txBox="1"/>
          <p:nvPr/>
        </p:nvSpPr>
        <p:spPr>
          <a:xfrm>
            <a:off x="2599175" y="1232759"/>
            <a:ext cx="6993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Grow younger customer segment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EBF55B-9C8E-C53E-61FD-AAAD3AC528FD}"/>
              </a:ext>
            </a:extLst>
          </p:cNvPr>
          <p:cNvSpPr txBox="1"/>
          <p:nvPr/>
        </p:nvSpPr>
        <p:spPr>
          <a:xfrm>
            <a:off x="3050678" y="2689881"/>
            <a:ext cx="6090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1. Launch affordable policies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61B925-C579-FD7B-AB0C-429ADBF663D7}"/>
              </a:ext>
            </a:extLst>
          </p:cNvPr>
          <p:cNvSpPr txBox="1"/>
          <p:nvPr/>
        </p:nvSpPr>
        <p:spPr>
          <a:xfrm>
            <a:off x="1877423" y="3535123"/>
            <a:ext cx="7931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2. College &amp; University campaigns</a:t>
            </a:r>
          </a:p>
        </p:txBody>
      </p:sp>
    </p:spTree>
    <p:extLst>
      <p:ext uri="{BB962C8B-B14F-4D97-AF65-F5344CB8AC3E}">
        <p14:creationId xmlns:p14="http://schemas.microsoft.com/office/powerpoint/2010/main" val="247952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86E773-58F3-35EC-B471-24755F178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C355A1-36AE-E5E0-8029-CABD0FF8D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3154F9-A366-401F-7871-50DC6C3E816C}"/>
              </a:ext>
            </a:extLst>
          </p:cNvPr>
          <p:cNvSpPr txBox="1"/>
          <p:nvPr/>
        </p:nvSpPr>
        <p:spPr>
          <a:xfrm>
            <a:off x="226143" y="161501"/>
            <a:ext cx="2551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Suggestions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3D68F3-81AB-665F-510F-7CC0C6F29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6674" y="766916"/>
            <a:ext cx="5157786" cy="43505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3E70AA-7003-EFF1-C2D4-C83D66A46151}"/>
              </a:ext>
            </a:extLst>
          </p:cNvPr>
          <p:cNvSpPr txBox="1"/>
          <p:nvPr/>
        </p:nvSpPr>
        <p:spPr>
          <a:xfrm>
            <a:off x="2599175" y="1232759"/>
            <a:ext cx="6993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Grow younger customer segment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E92A99-B88C-524F-25B9-D6A5D67CC3D9}"/>
              </a:ext>
            </a:extLst>
          </p:cNvPr>
          <p:cNvSpPr txBox="1"/>
          <p:nvPr/>
        </p:nvSpPr>
        <p:spPr>
          <a:xfrm>
            <a:off x="3050678" y="2689881"/>
            <a:ext cx="6090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1. Launch affordable policies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092BB-69CE-DAFC-6464-3E50F444F84B}"/>
              </a:ext>
            </a:extLst>
          </p:cNvPr>
          <p:cNvSpPr txBox="1"/>
          <p:nvPr/>
        </p:nvSpPr>
        <p:spPr>
          <a:xfrm>
            <a:off x="1877423" y="3535123"/>
            <a:ext cx="7931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2. College &amp; University campaigns</a:t>
            </a:r>
          </a:p>
        </p:txBody>
      </p:sp>
    </p:spTree>
    <p:extLst>
      <p:ext uri="{BB962C8B-B14F-4D97-AF65-F5344CB8AC3E}">
        <p14:creationId xmlns:p14="http://schemas.microsoft.com/office/powerpoint/2010/main" val="9402011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CC773-B165-507D-8274-D058D6DA7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39C29C-F755-7F60-21B2-CA19D7C49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AE98D8-056C-3D7C-44CD-5CF0CF9D5100}"/>
              </a:ext>
            </a:extLst>
          </p:cNvPr>
          <p:cNvSpPr txBox="1"/>
          <p:nvPr/>
        </p:nvSpPr>
        <p:spPr>
          <a:xfrm>
            <a:off x="226143" y="161501"/>
            <a:ext cx="2551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Suggestions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326C8-9029-0388-C180-9489FF1A6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6674" y="766916"/>
            <a:ext cx="5157786" cy="43505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611CD7-1BDD-BE1B-C1FF-AFDCB748E3C2}"/>
              </a:ext>
            </a:extLst>
          </p:cNvPr>
          <p:cNvSpPr txBox="1"/>
          <p:nvPr/>
        </p:nvSpPr>
        <p:spPr>
          <a:xfrm>
            <a:off x="2599175" y="1232759"/>
            <a:ext cx="6993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Capitalize on Senior customers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4249CD-7A81-D9A4-274E-93E54B557B5B}"/>
              </a:ext>
            </a:extLst>
          </p:cNvPr>
          <p:cNvSpPr txBox="1"/>
          <p:nvPr/>
        </p:nvSpPr>
        <p:spPr>
          <a:xfrm>
            <a:off x="1808703" y="2709978"/>
            <a:ext cx="84305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1. Due to highest earning potential per customer, tailor senior specific plans</a:t>
            </a:r>
          </a:p>
        </p:txBody>
      </p:sp>
    </p:spTree>
    <p:extLst>
      <p:ext uri="{BB962C8B-B14F-4D97-AF65-F5344CB8AC3E}">
        <p14:creationId xmlns:p14="http://schemas.microsoft.com/office/powerpoint/2010/main" val="35078452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6577D-5AD1-2E3E-6F81-639512E8E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9F2913-AB21-1C61-3190-2C3763FC1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ED7495-6BEF-5546-C511-320B50348370}"/>
              </a:ext>
            </a:extLst>
          </p:cNvPr>
          <p:cNvSpPr txBox="1"/>
          <p:nvPr/>
        </p:nvSpPr>
        <p:spPr>
          <a:xfrm>
            <a:off x="226143" y="161501"/>
            <a:ext cx="2551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Suggestions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BC2BD8-8499-5275-5D96-0E5410773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6674" y="766916"/>
            <a:ext cx="5157786" cy="43505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78BA76-44A8-8F3D-6DA7-624FFC7A0907}"/>
              </a:ext>
            </a:extLst>
          </p:cNvPr>
          <p:cNvSpPr txBox="1"/>
          <p:nvPr/>
        </p:nvSpPr>
        <p:spPr>
          <a:xfrm>
            <a:off x="2599175" y="1232759"/>
            <a:ext cx="6993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Capitalize on Senior customers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61E1A-B9D8-2A05-3BA2-7E41963F311A}"/>
              </a:ext>
            </a:extLst>
          </p:cNvPr>
          <p:cNvSpPr txBox="1"/>
          <p:nvPr/>
        </p:nvSpPr>
        <p:spPr>
          <a:xfrm>
            <a:off x="1808703" y="2709978"/>
            <a:ext cx="84305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1. Due to highest earning potential per customer, tailor senior specific plans</a:t>
            </a:r>
          </a:p>
        </p:txBody>
      </p:sp>
    </p:spTree>
    <p:extLst>
      <p:ext uri="{BB962C8B-B14F-4D97-AF65-F5344CB8AC3E}">
        <p14:creationId xmlns:p14="http://schemas.microsoft.com/office/powerpoint/2010/main" val="545536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08EB4-7774-E2A5-C77B-DADF9A40C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87D857-255D-B5E3-15D5-6EFFC4C18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832995-547D-A071-3993-B46E5AF54826}"/>
              </a:ext>
            </a:extLst>
          </p:cNvPr>
          <p:cNvSpPr txBox="1"/>
          <p:nvPr/>
        </p:nvSpPr>
        <p:spPr>
          <a:xfrm>
            <a:off x="226143" y="161501"/>
            <a:ext cx="2551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Suggestions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542D4-F15D-AF4E-E3E2-9643FD34C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6674" y="766916"/>
            <a:ext cx="5157786" cy="43505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2DE0DB-F91D-699E-E618-34965EA0A21D}"/>
              </a:ext>
            </a:extLst>
          </p:cNvPr>
          <p:cNvSpPr txBox="1"/>
          <p:nvPr/>
        </p:nvSpPr>
        <p:spPr>
          <a:xfrm>
            <a:off x="1286189" y="1232759"/>
            <a:ext cx="9807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Expand to smaller markets of Indore &amp; Chennai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84304-0488-A64A-A9FD-4BE805897CAE}"/>
              </a:ext>
            </a:extLst>
          </p:cNvPr>
          <p:cNvSpPr txBox="1"/>
          <p:nvPr/>
        </p:nvSpPr>
        <p:spPr>
          <a:xfrm>
            <a:off x="1539072" y="2365572"/>
            <a:ext cx="9113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Replicate March Surge reasons intentionally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088AF6-F1EA-DE3F-D61F-84D333F2EC63}"/>
              </a:ext>
            </a:extLst>
          </p:cNvPr>
          <p:cNvSpPr txBox="1"/>
          <p:nvPr/>
        </p:nvSpPr>
        <p:spPr>
          <a:xfrm>
            <a:off x="1049215" y="3498385"/>
            <a:ext cx="10093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Boost Online sales mode through app &amp; website</a:t>
            </a:r>
          </a:p>
        </p:txBody>
      </p:sp>
    </p:spTree>
    <p:extLst>
      <p:ext uri="{BB962C8B-B14F-4D97-AF65-F5344CB8AC3E}">
        <p14:creationId xmlns:p14="http://schemas.microsoft.com/office/powerpoint/2010/main" val="850723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C4D35-618B-DD85-3135-4C6FF4A31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A2F432-7F96-D476-76BA-17D786261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4B7BDA-10B6-56C7-F2A1-8365ED2FA114}"/>
              </a:ext>
            </a:extLst>
          </p:cNvPr>
          <p:cNvSpPr txBox="1"/>
          <p:nvPr/>
        </p:nvSpPr>
        <p:spPr>
          <a:xfrm>
            <a:off x="226143" y="161501"/>
            <a:ext cx="2551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Suggestions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33CCD4-2E83-B660-59CC-3F992C9CF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6674" y="766916"/>
            <a:ext cx="5157786" cy="43505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50231A-5229-18B9-5FB6-6F4279F6C81B}"/>
              </a:ext>
            </a:extLst>
          </p:cNvPr>
          <p:cNvSpPr txBox="1"/>
          <p:nvPr/>
        </p:nvSpPr>
        <p:spPr>
          <a:xfrm>
            <a:off x="1286189" y="1232759"/>
            <a:ext cx="9807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Expand to smaller markets of Indore &amp; Chennai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DCA4EB-9EC6-1E02-4156-7C95FBD57A0F}"/>
              </a:ext>
            </a:extLst>
          </p:cNvPr>
          <p:cNvSpPr txBox="1"/>
          <p:nvPr/>
        </p:nvSpPr>
        <p:spPr>
          <a:xfrm>
            <a:off x="1539072" y="2365572"/>
            <a:ext cx="9113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Replicate March Surge reasons intentionally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F08205-4FED-5984-E8AC-A0079E53CAD3}"/>
              </a:ext>
            </a:extLst>
          </p:cNvPr>
          <p:cNvSpPr txBox="1"/>
          <p:nvPr/>
        </p:nvSpPr>
        <p:spPr>
          <a:xfrm>
            <a:off x="1049215" y="3498385"/>
            <a:ext cx="10093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Boost Online sales mode through app &amp; website</a:t>
            </a:r>
          </a:p>
        </p:txBody>
      </p:sp>
    </p:spTree>
    <p:extLst>
      <p:ext uri="{BB962C8B-B14F-4D97-AF65-F5344CB8AC3E}">
        <p14:creationId xmlns:p14="http://schemas.microsoft.com/office/powerpoint/2010/main" val="21875128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8FF09-9E98-5CAD-77AC-692E72CB9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78D01C-F578-F1CF-ED6A-F1811927C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E9E3B8-2EDB-C240-9DA9-4F4538FC9C43}"/>
              </a:ext>
            </a:extLst>
          </p:cNvPr>
          <p:cNvSpPr txBox="1"/>
          <p:nvPr/>
        </p:nvSpPr>
        <p:spPr>
          <a:xfrm>
            <a:off x="226143" y="161501"/>
            <a:ext cx="2551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Suggestions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A498E9-E735-5036-672E-873B7BE6D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6674" y="766916"/>
            <a:ext cx="5157786" cy="43505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09A986-5215-E09C-7743-9B9D78E3CDA5}"/>
              </a:ext>
            </a:extLst>
          </p:cNvPr>
          <p:cNvSpPr txBox="1"/>
          <p:nvPr/>
        </p:nvSpPr>
        <p:spPr>
          <a:xfrm>
            <a:off x="1286189" y="1232759"/>
            <a:ext cx="9807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Expand to smaller markets of Indore &amp; Chennai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B48F7-91E6-5CEE-E1F9-FC27A9FCBC82}"/>
              </a:ext>
            </a:extLst>
          </p:cNvPr>
          <p:cNvSpPr txBox="1"/>
          <p:nvPr/>
        </p:nvSpPr>
        <p:spPr>
          <a:xfrm>
            <a:off x="1539072" y="2365572"/>
            <a:ext cx="9113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0"/>
              </a:rPr>
              <a:t>Replicate March Surge reasons intentionally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0FB93-948E-D935-5E55-FAAA919DD984}"/>
              </a:ext>
            </a:extLst>
          </p:cNvPr>
          <p:cNvSpPr txBox="1"/>
          <p:nvPr/>
        </p:nvSpPr>
        <p:spPr>
          <a:xfrm>
            <a:off x="1049215" y="3498385"/>
            <a:ext cx="10093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Boost Online sales mode through app &amp; website</a:t>
            </a:r>
          </a:p>
        </p:txBody>
      </p:sp>
    </p:spTree>
    <p:extLst>
      <p:ext uri="{BB962C8B-B14F-4D97-AF65-F5344CB8AC3E}">
        <p14:creationId xmlns:p14="http://schemas.microsoft.com/office/powerpoint/2010/main" val="4530632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chemeClr val="tx1">
                <a:lumMod val="75000"/>
                <a:lumOff val="25000"/>
              </a:schemeClr>
            </a:gs>
            <a:gs pos="74000">
              <a:schemeClr val="tx1">
                <a:lumMod val="85000"/>
                <a:lumOff val="15000"/>
              </a:schemeClr>
            </a:gs>
            <a:gs pos="51000">
              <a:srgbClr val="232227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3975A3-B939-8BCE-E1F4-A2E4562CC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CA2EB8-D20A-56D2-784D-BE0D382DC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2" t="12266" r="28559" b="41534"/>
          <a:stretch>
            <a:fillRect/>
          </a:stretch>
        </p:blipFill>
        <p:spPr>
          <a:xfrm>
            <a:off x="11381413" y="161501"/>
            <a:ext cx="584445" cy="6054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F1905A-8E7E-7797-3667-D2170DF3A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6674" y="766916"/>
            <a:ext cx="5157786" cy="43505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B2394E-BACC-76F6-E885-8D72F664B6E9}"/>
              </a:ext>
            </a:extLst>
          </p:cNvPr>
          <p:cNvSpPr txBox="1"/>
          <p:nvPr/>
        </p:nvSpPr>
        <p:spPr>
          <a:xfrm>
            <a:off x="4953887" y="3136612"/>
            <a:ext cx="2284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Avenir Next LT Pro" panose="020B05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68050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560</Words>
  <Application>Microsoft Office PowerPoint</Application>
  <PresentationFormat>Widescreen</PresentationFormat>
  <Paragraphs>112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Avenir Next LT Pro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 Admin</dc:creator>
  <cp:lastModifiedBy>Shafi Admin</cp:lastModifiedBy>
  <cp:revision>11</cp:revision>
  <dcterms:created xsi:type="dcterms:W3CDTF">2026-04-23T04:45:35Z</dcterms:created>
  <dcterms:modified xsi:type="dcterms:W3CDTF">2026-04-27T10:30:39Z</dcterms:modified>
</cp:coreProperties>
</file>